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3D75">
                  <a:alpha val="100000"/>
                </a:srgbClr>
              </a:gs>
              <a:gs pos="50">
                <a:srgbClr val="005BAC">
                  <a:alpha val="100000"/>
                </a:srgbClr>
              </a:gs>
              <a:gs pos="100">
                <a:srgbClr val="3A8FD6">
                  <a:alpha val="100000"/>
                </a:srgbClr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5BA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FF6B3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54864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AACCEE"/>
                </a:solidFill>
                <a:latin typeface="Microsoft YaHei"/>
                <a:ea typeface="Microsoft YaHei"/>
              </a:rPr>
              <a:t>TONG LIAN AI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通联智多星平台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4800" b="1">
                <a:solidFill>
                  <a:srgbClr val="FF6B35"/>
                </a:solidFill>
                <a:latin typeface="Microsoft YaHei"/>
                <a:ea typeface="Microsoft YaHei"/>
              </a:rPr>
              <a:t>培训手册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0">
                <a:solidFill>
                  <a:srgbClr val="BBCCDD"/>
                </a:solidFill>
                <a:latin typeface="Microsoft YaHei"/>
                <a:ea typeface="Microsoft YaHei"/>
              </a:rPr>
              <a:t>面向市场人员与分公司运营人员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0">
                <a:solidFill>
                  <a:srgbClr val="BBCCDD"/>
                </a:solidFill>
                <a:latin typeface="Microsoft YaHei"/>
                <a:ea typeface="Microsoft YaHei"/>
              </a:rPr>
              <a:t>AI 驱动 · 多智能体协同 · 多端触达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2011680" cy="384048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22392"/>
            <a:ext cx="2011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2026 年度培训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394960"/>
            <a:ext cx="1645920" cy="384048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5422392"/>
            <a:ext cx="16459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通联支付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培训内容概览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本次培训分为四个部分，涵盖从基础认知到实战场景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55648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基本认知介绍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7627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智多星是什么、三大智能体、多端接入、登录方式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11064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971800"/>
            <a:ext cx="640080" cy="64008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98648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核心功能边界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1927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能力范围、知识库体系、提问技巧、数据查询接口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11064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114800"/>
            <a:ext cx="640080" cy="64008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41648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运营场景使用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6227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问题排查、数据查询、商户全景、产品学习、知识库建设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064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184648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市场场景使用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60527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产品推荐、商户自助服务、经营分析、QQ 群响应、竞品知识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智多星是什么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一句话定义 + 技术底座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1188720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64008" cy="1188720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1">
                <a:solidFill>
                  <a:srgbClr val="003D75"/>
                </a:solidFill>
                <a:latin typeface="Microsoft YaHei"/>
                <a:ea typeface="Microsoft YaHei"/>
              </a:rPr>
              <a:t>智多星就是通联自己的 AI 助手——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1">
                <a:solidFill>
                  <a:srgbClr val="003D75"/>
                </a:solidFill>
                <a:latin typeface="Microsoft YaHei"/>
                <a:ea typeface="Microsoft YaHei"/>
              </a:rPr>
              <a:t>它读过公司内部的资料，能帮你查问题、找答案、做分析。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65960" y="3246120"/>
            <a:ext cx="640080" cy="640080"/>
          </a:xfrm>
          <a:prstGeom prst="ellipse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3246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不是通用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10896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接入了通联自己的知识库和业务系统，回答的都是跟业务相关的内容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399" y="30175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19" y="3246120"/>
            <a:ext cx="640080" cy="640080"/>
          </a:xfrm>
          <a:prstGeom prst="ellipse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19" y="3246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0233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多模型底座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434840"/>
            <a:ext cx="310896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底层接入 qwen3、DeepSeek 等主流大模型，跑在华为云升腾 AI 平台上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0175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3246120"/>
            <a:ext cx="640080" cy="6400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3246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40233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名字的由来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4434840"/>
            <a:ext cx="310896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"智" = AI 驱动靠智能办事
"多星" = 多个智能体各管一摊、协同配合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三大智能体：各管一摊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不是一个助手干所有事，而是多个智能体协同配合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1691640"/>
            <a:ext cx="822960" cy="82296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6916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29183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200" b="1">
                <a:solidFill>
                  <a:srgbClr val="005BAC"/>
                </a:solidFill>
                <a:latin typeface="Microsoft YaHei"/>
                <a:ea typeface="Microsoft YaHei"/>
              </a:rPr>
              <a:t>通联智枢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3108960"/>
            <a:ext cx="1280160" cy="292608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3127248"/>
            <a:ext cx="11338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005BAC"/>
                </a:solidFill>
                <a:latin typeface="Microsoft YaHei"/>
                <a:ea typeface="Microsoft YaHei"/>
              </a:rPr>
              <a:t>公司内部员工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3108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查业务问题、查经营数据、翻内部资料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663440"/>
            <a:ext cx="1280160" cy="292608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9072" y="4681727"/>
            <a:ext cx="11338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399" y="14630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79" y="1691640"/>
            <a:ext cx="822960" cy="8229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79" y="16916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2651760"/>
            <a:ext cx="329183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200" b="1">
                <a:solidFill>
                  <a:srgbClr val="FF6B35"/>
                </a:solidFill>
                <a:latin typeface="Microsoft YaHei"/>
                <a:ea typeface="Microsoft YaHei"/>
              </a:rPr>
              <a:t>智慧经营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79" y="3108960"/>
            <a:ext cx="1280160" cy="292608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1" y="3127248"/>
            <a:ext cx="11338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FF6B35"/>
                </a:solidFill>
                <a:latin typeface="Microsoft YaHei"/>
                <a:ea typeface="Microsoft YaHei"/>
              </a:rPr>
              <a:t>外部商户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3566160"/>
            <a:ext cx="3108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帮商户看经营数据、做分析、出建议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79" y="4663440"/>
            <a:ext cx="1280160" cy="292608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1" y="4681727"/>
            <a:ext cx="11338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14630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40" y="1691640"/>
            <a:ext cx="822960" cy="822960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16916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&lt;/&gt;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651760"/>
            <a:ext cx="329183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Microsoft YaHei"/>
                <a:ea typeface="Microsoft YaHei"/>
              </a:rPr>
              <a:t>研发智擎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3108960"/>
            <a:ext cx="1280160" cy="29260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3127248"/>
            <a:ext cx="11338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Microsoft YaHei"/>
                <a:ea typeface="Microsoft YaHei"/>
              </a:rPr>
              <a:t>研发人员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3566160"/>
            <a:ext cx="3108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辅助写代码、跑测试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663440"/>
            <a:ext cx="1280160" cy="29260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4681727"/>
            <a:ext cx="11338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Microsoft YaHei"/>
                <a:ea typeface="Microsoft YaHei"/>
              </a:rPr>
              <a:t>筹备中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54864" cy="502920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3503" y="5760720"/>
            <a:ext cx="11009376" cy="502920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33872"/>
            <a:ext cx="10698480" cy="3566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003D75"/>
                </a:solidFill>
                <a:latin typeface="Microsoft YaHei"/>
                <a:ea typeface="Microsoft YaHei"/>
              </a:rPr>
              <a:t>本次培训聚焦 "通联智枢" 和 "智慧经营"，这两个跟大家日常工作最相关。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多端接入：随时随地使用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对内入口（公司员工）与对外入口（商户）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457200"/>
          </a:xfrm>
          <a:prstGeom prst="round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5120640" cy="40233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对内入口（公司员工）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5486400" cy="640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PC 网页端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9456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浏览器打开 ai.allinpay.com（推荐）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企业微信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346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工作台 → 核心支付产品中心 → 问发仔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5486400" cy="640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产品中心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474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通联核心产品文档中心搜索框提问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7764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运营端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11480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收银宝/收付通/跨境 → 有问题找发仔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463040"/>
            <a:ext cx="52120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1463040"/>
            <a:ext cx="5212080" cy="4572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490472"/>
            <a:ext cx="4846320" cy="40233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对外入口（商户）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057400"/>
            <a:ext cx="5212080" cy="640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1945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好老板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945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选择发仔图标 → 智能问答+交易查询+自助变更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97480"/>
            <a:ext cx="52120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834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收付通商户端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8346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交易查询、余额查询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206240"/>
            <a:ext cx="52120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4206240"/>
            <a:ext cx="52120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33672"/>
            <a:ext cx="4846320" cy="40233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更多触达方式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0060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多端智能客服：在各业务系统客服场景中直接提供 AI 问答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5780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QQ 群机器人：在群内 @机器人 即可提问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登录方式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三步完成，自动认证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2926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4560" y="1920240"/>
            <a:ext cx="731520" cy="73152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9202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打开网页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291840"/>
            <a:ext cx="2377440" cy="365760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319272"/>
            <a:ext cx="237744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005BAC"/>
                </a:solidFill>
                <a:latin typeface="Microsoft YaHei"/>
                <a:ea typeface="Microsoft YaHei"/>
              </a:rPr>
              <a:t>ai.allinpay.com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94760"/>
            <a:ext cx="2560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PC 端浏览器打开平台首页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3017520"/>
            <a:ext cx="548640" cy="365760"/>
          </a:xfrm>
          <a:prstGeom prst="rightArrow">
            <a:avLst/>
          </a:prstGeom>
          <a:solidFill>
            <a:srgbClr val="3A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1645920"/>
            <a:ext cx="2926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2160" y="1920240"/>
            <a:ext cx="731520" cy="73152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9202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83464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扫码登录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337560"/>
            <a:ext cx="2560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使用通联支付企业微信扫码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72400" y="3017520"/>
            <a:ext cx="548640" cy="365760"/>
          </a:xfrm>
          <a:prstGeom prst="rightArrow">
            <a:avLst/>
          </a:prstGeom>
          <a:solidFill>
            <a:srgbClr val="3A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1645920"/>
            <a:ext cx="2926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59" y="1920240"/>
            <a:ext cx="731520" cy="73152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59" y="19202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83464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自动认证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3337560"/>
            <a:ext cx="2560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登录后自动完成身份认证
其他入口可单点登录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54864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3" y="5577840"/>
            <a:ext cx="11009376" cy="50292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50992"/>
            <a:ext cx="10698480" cy="3566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9A3412"/>
                </a:solidFill>
                <a:latin typeface="Microsoft YaHei"/>
                <a:ea typeface="Microsoft YaHei"/>
              </a:rPr>
              <a:t>如扫码后提示无权限，请联系部门管理员确认是否已开通访问权限。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能力边界：能做什么、不能做什么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明确边界，才能用好智多星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能做的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212080" cy="5029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12848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16712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排查业务系统问题（如收付通交易报错）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3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271576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15768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67004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查商户交易、经营数据、结算信息（只查不改）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59"/>
            <a:ext cx="5212080" cy="5029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21868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218687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17296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帮商户在好老板 APP 自助改结算卡、更新证件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1187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372160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721607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67588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解释产品定义、业务流程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14799"/>
            <a:ext cx="5212080" cy="5029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22452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224527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17880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读懂上传的文档并用来回答问题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1771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9808" y="472744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727447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68172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多端客服系统和 QQ 群内直接问答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463040"/>
            <a:ext cx="5394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539496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490472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做不了的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103120"/>
            <a:ext cx="5212080" cy="5029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19088" y="221284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2212848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216712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替人工客服处理工单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60603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19088" y="271576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2715768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267004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改交易数据、发起交易、动钱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108959"/>
            <a:ext cx="5212080" cy="5029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19088" y="3218687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3218687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4848" y="317296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替商户做提现、转账等资金操作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61187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19088" y="3721607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19088" y="3721607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4848" y="367588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知识库里没有的事硬编答案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114799"/>
            <a:ext cx="5212080" cy="5029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19088" y="4224527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9088" y="4224527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417880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处理超大文件或特殊格式文件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617719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19088" y="4727447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19088" y="4727447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4848" y="468172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没接入的渠道里提供服务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760720"/>
            <a:ext cx="54864" cy="502920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03503" y="5760720"/>
            <a:ext cx="11009376" cy="502920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833872"/>
            <a:ext cx="10698480" cy="3566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003D75"/>
                </a:solidFill>
                <a:latin typeface="Microsoft YaHei"/>
                <a:ea typeface="Microsoft YaHei"/>
              </a:rPr>
              <a:t>知识库的内容质量直接决定了它好不好用——你喂给它什么知识，它就答什么。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三级知识库体系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知识库就是智多星的"记忆"，你往里传了什么文档，它就能用什么内容来回答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645920"/>
            <a:ext cx="2194560" cy="822960"/>
          </a:xfrm>
          <a:prstGeom prst="roundRect">
            <a:avLst/>
          </a:prstGeom>
          <a:solidFill>
            <a:srgbClr val="00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719072"/>
            <a:ext cx="20116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公共知识库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57400"/>
            <a:ext cx="201167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DDEEFF"/>
                </a:solidFill>
                <a:latin typeface="Microsoft YaHei"/>
                <a:ea typeface="Microsoft YaHei"/>
              </a:rPr>
              <a:t>公司管理员管理 · 全公司可查看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697480"/>
            <a:ext cx="3291840" cy="822960"/>
          </a:xfrm>
          <a:prstGeom prst="round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770632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部门知识库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0896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DDEEFF"/>
                </a:solidFill>
                <a:latin typeface="Microsoft YaHei"/>
                <a:ea typeface="Microsoft YaHei"/>
              </a:rPr>
              <a:t>管理员建组 · 部门所有人可传可看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749039"/>
            <a:ext cx="4389120" cy="822960"/>
          </a:xfrm>
          <a:prstGeom prst="roundRect">
            <a:avLst/>
          </a:prstGeom>
          <a:solidFill>
            <a:srgbClr val="3A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22191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个人知识库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6052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DDEEFF"/>
                </a:solidFill>
                <a:latin typeface="Microsoft YaHei"/>
                <a:ea typeface="Microsoft YaHei"/>
              </a:rPr>
              <a:t>自己管理 · 仅自己可见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文件限制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377440"/>
            <a:ext cx="640080" cy="292608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2395728"/>
            <a:ext cx="49377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005BAC"/>
                </a:solidFill>
                <a:latin typeface="Microsoft YaHei"/>
                <a:ea typeface="Microsoft YaHei"/>
              </a:rPr>
              <a:t>大小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395728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单文件 ≤ 10MB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880360"/>
            <a:ext cx="640080" cy="292608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2898648"/>
            <a:ext cx="49377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005BAC"/>
                </a:solidFill>
                <a:latin typeface="Microsoft YaHei"/>
                <a:ea typeface="Microsoft YaHei"/>
              </a:rPr>
              <a:t>格式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898648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doc/docx/xls/xlsx/pdf/ppt/pptx/txt/csv/html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383280"/>
            <a:ext cx="640080" cy="292608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3401568"/>
            <a:ext cx="49377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005BAC"/>
                </a:solidFill>
                <a:latin typeface="Microsoft YaHei"/>
                <a:ea typeface="Microsoft YaHei"/>
              </a:rPr>
              <a:t>长度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401568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单条知识 ≤ 5000 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886200"/>
            <a:ext cx="640080" cy="292608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904487"/>
            <a:ext cx="49377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</a:rPr>
              <a:t>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04487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URL 抓取方式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937760"/>
            <a:ext cx="54864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55664" y="4937760"/>
            <a:ext cx="5157216" cy="50292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010912"/>
            <a:ext cx="4846320" cy="3566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9A3412"/>
                </a:solidFill>
                <a:latin typeface="Microsoft YaHei"/>
                <a:ea typeface="Microsoft YaHei"/>
              </a:rPr>
              <a:t>安全红线：机密文件禁止上传至个人知识库，含敏感词的内容会被系统自动拦截。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提问四原则：问对了才有好答案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同样的需求，不同的问法，效果天差地别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99032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Microsoft YaHei"/>
                <a:ea typeface="Microsoft YaHei"/>
              </a:rPr>
              <a:t>✗  "收付通返回交易失败怎么办？"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99032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10B981"/>
                </a:solidFill>
                <a:latin typeface="Microsoft YaHei"/>
                <a:ea typeface="Microsoft YaHei"/>
              </a:rPr>
              <a:t>✓  "收付通交易返回验证签名失败如何处理？"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26060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7339" y="2423160"/>
            <a:ext cx="548640" cy="54864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7339" y="24231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限定范围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问题前加上业务系统名称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51960"/>
            <a:ext cx="23317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"收付通：XXX问题"
而非 "XXX问题"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194560"/>
            <a:ext cx="26060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11980" y="2423160"/>
            <a:ext cx="548640" cy="54864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1980" y="24231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1089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明确目标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520440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说清你要了解什么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251960"/>
            <a:ext cx="23317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34340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"验证签名失败的处理步骤"
而非 "交易失败怎么办"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94560"/>
            <a:ext cx="26060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6620" y="2423160"/>
            <a:ext cx="548640" cy="54864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6620" y="24231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1089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补充场景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20440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加上业务背景让回答更精准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251960"/>
            <a:ext cx="23317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34340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"信用卡中心，要用他行
借记卡还款本行信用卡"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2194560"/>
            <a:ext cx="26060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81260" y="2423160"/>
            <a:ext cx="548640" cy="54864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81260" y="24231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0896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区分类型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520440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概念理解 vs 实操指导分开问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4251960"/>
            <a:ext cx="23317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4343400"/>
            <a:ext cx="21488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"解释协议支付的定义"
vs "介绍协议支付的流程"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数据查询能力：接口能力矩阵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对内 33 个接口 · 对外 10 个接口 — 用大白话提问，AI 自动调接口返回真实数据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651760"/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查询维度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收付通（对内）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收银宝（对内）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对外（商户可用）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商户基本信息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产品 / 套餐 / 协议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门店 / 设备 / 终端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合规 / 风控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单笔交易查询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交易统计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交易诊断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经营分析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结算单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余额查询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历史余额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3D75">
                  <a:alpha val="100000"/>
                </a:srgbClr>
              </a:gs>
              <a:gs pos="60">
                <a:srgbClr val="005BAC">
                  <a:alpha val="100000"/>
                </a:srgbClr>
              </a:gs>
              <a:gs pos="100">
                <a:srgbClr val="3A8FD6">
                  <a:alpha val="100000"/>
                </a:srgbClr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457200" cy="365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1460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AACCEE"/>
                </a:solidFill>
                <a:latin typeface="Microsoft YaHei"/>
                <a:ea typeface="Microsoft YaHe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运营场景使用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0">
                <a:solidFill>
                  <a:srgbClr val="BBCCDD"/>
                </a:solidFill>
                <a:latin typeface="Microsoft YaHei"/>
                <a:ea typeface="Microsoft YaHei"/>
              </a:rPr>
              <a:t>面向分公司运营人员 · 日常工作中最容易碰到的场景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901952" cy="411480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90872"/>
            <a:ext cx="1901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排查系统问题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4663440"/>
            <a:ext cx="1901952" cy="411480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4690872"/>
            <a:ext cx="1901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查询经营数据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9744" y="4663440"/>
            <a:ext cx="1901952" cy="411480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4690872"/>
            <a:ext cx="1901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商户全景信息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8856" y="4663440"/>
            <a:ext cx="1901952" cy="411480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8856" y="4690872"/>
            <a:ext cx="1901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商户问题诊断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7968" y="4663440"/>
            <a:ext cx="1901952" cy="411480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4690872"/>
            <a:ext cx="1901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产品知识学习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27080" y="4663440"/>
            <a:ext cx="1645920" cy="411480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7080" y="469087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知识库建设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运营场景（上）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问题排查 · 数据查询 · 商户全景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19072"/>
            <a:ext cx="24688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排查业务系统问题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典型情况：商户反馈交易失败、签名验证不通过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3200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操作：新建对话 → 输入具体错误信息
→ AI 给出分步排查指引 → 追问细节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80"/>
            <a:ext cx="3200400" cy="640080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70832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005BAC"/>
                </a:solidFill>
                <a:latin typeface="Microsoft YaHei"/>
                <a:ea typeface="Microsoft YaHei"/>
              </a:rPr>
              <a:t>加上系统名+错误信息，精准度显著提升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399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79" y="1691640"/>
            <a:ext cx="457200" cy="45720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69164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39" y="1719072"/>
            <a:ext cx="24688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查询商户经营数据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286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典型情况：了解某商户的交易、结算、余额等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017520"/>
            <a:ext cx="3200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31089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操作：输入商户号+查询需求 → AI 自动
调接口返回数据 → 可追问结算/余额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297680"/>
            <a:ext cx="3200400" cy="64008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370832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Microsoft YaHei"/>
                <a:ea typeface="Microsoft YaHei"/>
              </a:rPr>
              <a:t>以前登收付通再切收银宝，现在一个对话框搞定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39" y="1691640"/>
            <a:ext cx="457200" cy="45720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9" y="169164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399" y="1719072"/>
            <a:ext cx="24688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商户全景信息掌握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286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典型情况：新接手一批商户，需快速了解全貌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3017520"/>
            <a:ext cx="3200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1089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操作：依次提问基本信息→签约产品→
结算账户→余额和结算单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19" y="4297680"/>
            <a:ext cx="3200400" cy="640080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4370832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005BAC"/>
                </a:solidFill>
                <a:latin typeface="Microsoft YaHei"/>
                <a:ea typeface="Microsoft YaHei"/>
              </a:rPr>
              <a:t>以前在3-4个系统间来回切，现在一次对话完事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运营场景（下）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问题诊断 · 产品学习 · 知识库建设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19072"/>
            <a:ext cx="24688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商户问题诊断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典型情况：商户反馈交易异常，需快速定位原因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3200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操作：输入"交易诊断+流水号"→AI调用
诊断接口→返回失败原因和处理建议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80"/>
            <a:ext cx="3200400" cy="64008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70832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Microsoft YaHei"/>
                <a:ea typeface="Microsoft YaHei"/>
              </a:rPr>
              <a:t>可追问风控参数和限额配置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399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79" y="16916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69164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39" y="1719072"/>
            <a:ext cx="24688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产品知识快速学习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286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典型情况：了解某产品完整信息，准备推广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017520"/>
            <a:ext cx="3200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31089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操作：先问概念→再问流程→最后问对比
拆分提问更聚焦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297680"/>
            <a:ext cx="3200400" cy="64008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370832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Microsoft YaHei"/>
                <a:ea typeface="Microsoft YaHei"/>
              </a:rPr>
              <a:t>拆成几步问比一口气甩一大段好用得多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39" y="16916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9" y="169164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399" y="1719072"/>
            <a:ext cx="24688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知识库建设与维护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286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典型情况：运营团队沉淀业务文档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3017520"/>
            <a:ext cx="3200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1089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操作：创建部门分组→上传文档→团队共享
→定期维护更新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19" y="4297680"/>
            <a:ext cx="3200400" cy="64008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4370832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Microsoft YaHei"/>
                <a:ea typeface="Microsoft YaHei"/>
              </a:rPr>
              <a:t>持续喂高质量文档 = AI 越用越准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A3412">
                  <a:alpha val="100000"/>
                </a:srgbClr>
              </a:gs>
              <a:gs pos="50">
                <a:srgbClr val="FF6B35">
                  <a:alpha val="100000"/>
                </a:srgbClr>
              </a:gs>
              <a:gs pos="100">
                <a:srgbClr val="FF9F6B">
                  <a:alpha val="100000"/>
                </a:srgbClr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4572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1460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FFCCAA"/>
                </a:solidFill>
                <a:latin typeface="Microsoft YaHei"/>
                <a:ea typeface="Microsoft YaHe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市场场景使用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0">
                <a:solidFill>
                  <a:srgbClr val="FFDDCC"/>
                </a:solidFill>
                <a:latin typeface="Microsoft YaHei"/>
                <a:ea typeface="Microsoft YaHei"/>
              </a:rPr>
              <a:t>面向市场人员 · 聚焦商户拓展、商户服务、商户赋能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901952" cy="411480"/>
          </a:xfrm>
          <a:prstGeom prst="roundRect">
            <a:avLst/>
          </a:prstGeom>
          <a:solidFill>
            <a:srgbClr val="BB4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90872"/>
            <a:ext cx="1901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介绍产品方案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4663440"/>
            <a:ext cx="1901952" cy="411480"/>
          </a:xfrm>
          <a:prstGeom prst="roundRect">
            <a:avLst/>
          </a:prstGeom>
          <a:solidFill>
            <a:srgbClr val="BB4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4690872"/>
            <a:ext cx="1901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商户自助查询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9744" y="4663440"/>
            <a:ext cx="1901952" cy="411480"/>
          </a:xfrm>
          <a:prstGeom prst="roundRect">
            <a:avLst/>
          </a:prstGeom>
          <a:solidFill>
            <a:srgbClr val="BB4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4690872"/>
            <a:ext cx="1901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经营分析支持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8856" y="4663440"/>
            <a:ext cx="2414016" cy="411480"/>
          </a:xfrm>
          <a:prstGeom prst="roundRect">
            <a:avLst/>
          </a:prstGeom>
          <a:solidFill>
            <a:srgbClr val="BB4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8856" y="4690872"/>
            <a:ext cx="241401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QQ 群即时响应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0032" y="4663440"/>
            <a:ext cx="1901952" cy="411480"/>
          </a:xfrm>
          <a:prstGeom prst="roundRect">
            <a:avLst/>
          </a:prstGeom>
          <a:solidFill>
            <a:srgbClr val="BB4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4690872"/>
            <a:ext cx="19019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竞品行业知识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市场场景（上）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产品推荐 · 商户自助 · 经营分析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19072"/>
            <a:ext cx="24688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向商户介绍产品方案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典型情况：拜访商户前需快速了解产品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3200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操作：补充具体业务场景→AI推荐方案
→追问费率和开通流程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80"/>
            <a:ext cx="3200400" cy="64008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70832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Microsoft YaHei"/>
                <a:ea typeface="Microsoft YaHei"/>
              </a:rPr>
              <a:t>补充场景背景能让推荐更精准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399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79" y="16916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69164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39" y="1719072"/>
            <a:ext cx="24688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协助商户自助查询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286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典型情况：商户需查交易、看余额、调整结算信息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017520"/>
            <a:ext cx="3200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31089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操作：引导商户在好老板APP点击发仔
→直接问/发起自助变更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297680"/>
            <a:ext cx="3200400" cy="64008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370832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Microsoft YaHei"/>
                <a:ea typeface="Microsoft YaHei"/>
              </a:rPr>
              <a:t>话术：在好老板APP上直接问发仔就行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146304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39" y="16916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9" y="169164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399" y="1719072"/>
            <a:ext cx="246887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Microsoft YaHei"/>
                <a:ea typeface="Microsoft YaHei"/>
              </a:rPr>
              <a:t>商户经营分析支持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2860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典型情况：为商户提供经营回顾或优化建议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3017520"/>
            <a:ext cx="3200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10896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操作：输入商户号→AI调用经营分析接口
→返回结构化数据→结合数据给建议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19" y="4297680"/>
            <a:ext cx="3200400" cy="64008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4370832"/>
            <a:ext cx="3017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Microsoft YaHei"/>
                <a:ea typeface="Microsoft YaHei"/>
              </a:rPr>
              <a:t>深度整合商户及行业数据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市场场景（下）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QQ 群响应 · 竞品知识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QQ 群内即时响应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典型情况：在服务商对接群或商户服务群中快速响应技术问题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9200" cy="12801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47548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操作：在已接入智多星的 QQ 群中 @机器人 提问
例：@发仔 收付通交易返回验证签名失败如何处理？
也可以查数据：@发仔 查询商户号 XXXXXXXX 今天的交易统计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54864" cy="457200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" y="4389120"/>
            <a:ext cx="4974336" cy="457200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466344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003D75"/>
                </a:solidFill>
                <a:latin typeface="Microsoft YaHei"/>
                <a:ea typeface="Microsoft YaHei"/>
              </a:rPr>
              <a:t>不用切系统、不用退群，在群里直接就能答——体验直接拉满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73736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Microsoft YaHei"/>
                <a:ea typeface="Microsoft YaHei"/>
              </a:rPr>
              <a:t>快速掌握竞品/行业知识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典型情况：商户问到行业对比、竞品分析等问题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926080"/>
            <a:ext cx="5029200" cy="12801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017520"/>
            <a:ext cx="47548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操作：提问通联产品与同类产品对比
如果知识库有相关资料，AI 会给出对比分析
如果回答不全，建议将竞品分析文档上传到部门知识库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389120"/>
            <a:ext cx="54864" cy="457200"/>
          </a:xfrm>
          <a:prstGeom prst="rect">
            <a:avLst/>
          </a:prstGeom>
          <a:solidFill>
            <a:srgbClr val="005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5664" y="4389120"/>
            <a:ext cx="4974336" cy="457200"/>
          </a:xfrm>
          <a:prstGeom prst="round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462272"/>
            <a:ext cx="466344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003D75"/>
                </a:solidFill>
                <a:latin typeface="Microsoft YaHei"/>
                <a:ea typeface="Microsoft YaHei"/>
              </a:rPr>
              <a:t>AI 答不上来？赶紧补上知识库，下次就能答了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200" b="1">
                <a:solidFill>
                  <a:srgbClr val="005BAC"/>
                </a:solidFill>
                <a:latin typeface="Microsoft YaHei"/>
                <a:ea typeface="Microsoft YaHei"/>
              </a:rPr>
              <a:t>常见问题速查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遇到问题？先看这里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38100" dir="5400000" rotWithShape="0">
              <a:srgbClr val="003D7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005BAC"/>
                </a:solidFill>
                <a:latin typeface="Microsoft YaHei"/>
                <a:ea typeface="Microsoft YaHei"/>
              </a:rPr>
              <a:t>AI 回答不准确？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490472"/>
            <a:ext cx="27432" cy="493776"/>
          </a:xfrm>
          <a:prstGeom prst="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50876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参考"提问四原则"优化提问方式；检查知识库是否有相关文档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005BAC"/>
                </a:solidFill>
                <a:latin typeface="Microsoft YaHei"/>
                <a:ea typeface="Microsoft YaHei"/>
              </a:rPr>
              <a:t>文件上传失败？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130552"/>
            <a:ext cx="27432" cy="493776"/>
          </a:xfrm>
          <a:prstGeom prst="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14884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检查文件大小（≤10MB）、格式是否在支持列表中、是否含敏感信息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11064240" cy="640080"/>
          </a:xfrm>
          <a:prstGeom prst="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005BAC"/>
                </a:solidFill>
                <a:latin typeface="Microsoft YaHei"/>
                <a:ea typeface="Microsoft YaHei"/>
              </a:rPr>
              <a:t>对话中能直接上传文件吗？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770632"/>
            <a:ext cx="27432" cy="493776"/>
          </a:xfrm>
          <a:prstGeom prst="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78892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暂不支持，需先上传到"个人知识库"再引用提问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005BAC"/>
                </a:solidFill>
                <a:latin typeface="Microsoft YaHei"/>
                <a:ea typeface="Microsoft YaHei"/>
              </a:rPr>
              <a:t>部门知识库怎么用？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3410712"/>
            <a:ext cx="27432" cy="493776"/>
          </a:xfrm>
          <a:prstGeom prst="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42900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部门管理员建组 → 成员可上传/查看 → 只能删除自己上传的文件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77640"/>
            <a:ext cx="11064240" cy="640080"/>
          </a:xfrm>
          <a:prstGeom prst="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005BAC"/>
                </a:solidFill>
                <a:latin typeface="Microsoft YaHei"/>
                <a:ea typeface="Microsoft YaHei"/>
              </a:rPr>
              <a:t>公共知识库怎么用？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4050792"/>
            <a:ext cx="27432" cy="493776"/>
          </a:xfrm>
          <a:prstGeom prst="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06908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公司级管理员统一管理 → 全员可查看/下载 → 普通员工不能上传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1772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005BAC"/>
                </a:solidFill>
                <a:latin typeface="Microsoft YaHei"/>
                <a:ea typeface="Microsoft YaHei"/>
              </a:rPr>
              <a:t>数据安全吗？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4690872"/>
            <a:ext cx="27432" cy="493776"/>
          </a:xfrm>
          <a:prstGeom prst="rect">
            <a:avLst/>
          </a:prstGeom>
          <a:solidFill>
            <a:srgbClr val="E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470916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机密文件禁止上传；敏感词自动拦截；个人知识库仅自己可见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607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平台首页：ai.allinpay.com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7607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知识库管理：ai.allinpay.com/web/kwdres/kwdindex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通联智多星平台培训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3D75">
                  <a:alpha val="100000"/>
                </a:srgbClr>
              </a:gs>
              <a:gs pos="50">
                <a:srgbClr val="005BAC">
                  <a:alpha val="100000"/>
                </a:srgbClr>
              </a:gs>
              <a:gs pos="100">
                <a:srgbClr val="3A8FD6">
                  <a:alpha val="100000"/>
                </a:srgbClr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005BA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30087" y="2011680"/>
            <a:ext cx="7315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智多星好不好用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800" b="1">
                <a:solidFill>
                  <a:srgbClr val="FF6B35"/>
                </a:solidFill>
                <a:latin typeface="Microsoft YaHei"/>
                <a:ea typeface="Microsoft YaHei"/>
              </a:rPr>
              <a:t>三分靠平台，七分靠你喂给它的知识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289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0">
                <a:solidFill>
                  <a:srgbClr val="BBCCDD"/>
                </a:solidFill>
                <a:latin typeface="Microsoft YaHei"/>
                <a:ea typeface="Microsoft YaHei"/>
              </a:rPr>
              <a:t>文档越扎实，提问越精准，它就越能成为你的得力帮手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2895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谢谢大家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01287" y="5669280"/>
            <a:ext cx="2011680" cy="384048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1287" y="5696712"/>
            <a:ext cx="2011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ai.allinpay.com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5669280"/>
            <a:ext cx="1645920" cy="384048"/>
          </a:xfrm>
          <a:prstGeom prst="roundRect">
            <a:avLst/>
          </a:prstGeom>
          <a:solidFill>
            <a:srgbClr val="1A5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5696712"/>
            <a:ext cx="16459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通联支付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